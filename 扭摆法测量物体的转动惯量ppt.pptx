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62" r:id="rId8"/>
    <p:sldId id="257" r:id="rId9"/>
    <p:sldId id="264" r:id="rId10"/>
    <p:sldId id="265" r:id="rId11"/>
    <p:sldId id="266" r:id="rId12"/>
    <p:sldId id="261" r:id="rId13"/>
    <p:sldId id="260" r:id="rId14"/>
    <p:sldId id="259" r:id="rId15"/>
    <p:sldId id="26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55202-43E1-4627-8427-0E2FB28A5800}" v="308" dt="2026-05-23T00:41:22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0:39:48.8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389 428 24575,'2'0'0,"-1"0"0,1 0 0,0-1 0,-1 1 0,1-1 0,0 1 0,0-1 0,-1 0 0,1 1 0,-1-1 0,1 0 0,-1 0 0,1 0 0,-1 0 0,0 0 0,1-1 0,-1 1 0,0 0 0,0-1 0,0 1 0,0-1 0,0 1 0,0-1 0,0 1 0,0-3 0,3-6 0,0 0 0,-1 0 0,2-14 0,4-10 0,9-9 0,22-64 0,-24 61 0,-11 35 0,0 0 0,-2 0 0,1 0 0,-1-1 0,-1 1 0,1-15 0,-2 25 0,-1 0 0,0 0 0,0 0 0,0 0 0,0 0 0,0 0 0,0 0 0,0 1 0,-1-1 0,1 0 0,0 0 0,0 0 0,-1 0 0,1 0 0,0 0 0,-1 1 0,1-1 0,-1 0 0,1 0 0,-1 1 0,0-1 0,1 0 0,-1 1 0,0-1 0,-1-1 0,1 2 0,0 0 0,0 0 0,-1 0 0,1 0 0,0 0 0,0 0 0,0 0 0,-1 0 0,1 0 0,0 1 0,0-1 0,0 0 0,0 1 0,0-1 0,-1 1 0,0 1 0,-5 2 0,1 0 0,0 1 0,0-1 0,0 2 0,-5 5 0,-16 20 0,-56 69 0,74-87 0,0 1 0,1 0 0,1 0 0,0 0 0,1 1 0,-5 17 0,5-10 0,1-1 0,1 1 0,0 0 0,0 33 0,4-53 0,0 43 0,1-1 0,12 67 0,-9-90 0,0 2 0,10 32 0,-12-48 0,1-1 0,-1 0 0,1 0 0,0 0 0,1 0 0,0-1 0,0 1 0,0-1 0,8 9 0,-5-9 0,0-1 0,0 0 0,0 0 0,1 0 0,15 5 0,22 12 0,-41-18 0,0 0 0,0 0 0,0 0 0,-1 1 0,1 0 0,-1-1 0,0 1 0,0 1 0,0-1 0,-1 0 0,1 1 0,1 6 0,2 6 0,-1-1 0,4 24 0,-2-4 0,-2-14 0,-2-1 0,1 34 0,-3-30 0,6 35 0,31 163 0,-31-175 0,3 13 0,8 63 0,-19-125 0,0 1 0,1 0 0,-1 0 0,0 0 0,1 0 0,-1-1 0,1 1 0,-1 0 0,0-1 0,1 1 0,-1-1 0,1 1 0,-1 0 0,1-1 0,-1 1 0,1-1 0,-1 1 0,1-1 0,-1 0 0,1 1 0,0-1 0,-1 0 0,-19-21 0,18 19 0,-24-26 0,-43-55 0,65 79 0,-4-5 0,1-1 0,0 0 0,1 0 0,0 0 0,-6-17 0,-86-243 0,89 244 0,-10-49 0,13 51 0,0 0 0,-14-35 0,-3 9 0,1 2 0,-16-53 0,29 78 0,0 0 0,-2 0 0,-1 1 0,-1 1 0,-1 0 0,0 1 0,-33-37 0,45 57 0,1 0 0,0-1 0,0 1 0,0 0 0,-1 0 0,1-1 0,0 1 0,-1 0 0,1 0 0,-1 1 0,1-1 0,-1 0 0,0 0 0,1 1 0,-1-1 0,0 1 0,1 0 0,-1-1 0,0 1 0,0 0 0,1 0 0,-1 0 0,0 0 0,0 0 0,1 1 0,-4 0 0,3 0 0,0 0 0,0 0 0,0 0 0,0 1 0,1-1 0,-1 1 0,0 0 0,1-1 0,-1 1 0,1 0 0,0 0 0,0 0 0,0 0 0,0 0 0,0 0 0,0 0 0,0 0 0,0 0 0,1 0 0,-1 4 0,-2 13 0,0 0 0,2 1 0,0 0 0,1-1 0,1 1 0,6 33 0,4-1 0,23 62 0,-29-92 0,0 0 0,3 38 0,4 17 0,4-13 0,-8-37 0,-2 0 0,0 1 0,2 48 0,2 22 0,0-2 0,-10 92-1365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0:39:49.9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766 1 24575,'-1'8'0,"-1"0"0,1 1 0,-2-1 0,1 0 0,-1 0 0,0 0 0,-1 0 0,1-1 0,-2 1 0,1-1 0,-7 9 0,3-4 0,0 0 0,-9 22 0,10-18 0,-1 0 0,-1 0 0,0-1 0,-17 21 0,-52 55 0,41-50 0,-186 207 0,197-219 0,1 1 0,-27 44 0,36-49 0,-22 23 0,24-32 0,1 1 0,0 0 0,-17 34 0,9-11 0,12-23 0,0 0 0,2 1 0,-8 23 0,13-35 0,1-1 0,0 1 0,0 0 0,0 0 0,1-1 0,0 1 0,0 0 0,1 0 0,0 0 0,0-1 0,0 1 0,0 0 0,1-1 0,0 1 0,3 5 0,1 0 0,-4-5 0,1 0 0,0-1 0,0 1 0,1-1 0,-1 1 0,1-1 0,0 0 0,1-1 0,9 9 0,219 188 0,-108-95 0,-94-79 0,64 43 0,-9-8 0,-68-45 0,-1 1 0,-1 1 0,-1 0 0,-1 1 0,21 39 0,-32-53 0,0 1 0,0 0 0,-1 0 0,1 0 0,-2 0 0,1 0 0,-1 0 0,0 0 0,-1 1 0,1-1 0,-1 0 0,-1 1 0,0-1 0,0 0 0,-3 11 0,3-16-36,0 1-1,-1-1 0,1 0 1,-1 0-1,0 0 0,0 0 1,1-1-1,-1 1 1,0 0-1,0-1 0,-1 1 1,-3 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0:40:02.4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0 157 24575,'9'-1'0,"0"0"0,-1-1 0,1-1 0,-1 1 0,0-1 0,0 0 0,0-1 0,14-9 0,-10 7 0,0 0 0,21-8 0,-9 7 0,0-2 0,0 0 0,-1-2 0,36-21 0,-53 28 0,-2 1 0,0 1 0,0-1 0,0 1 0,1 0 0,-1 0 0,7-2 0,-10 4 0,-1 0 0,1 0 0,0 0 0,-1 0 0,1 0 0,0 0 0,-1 0 0,1 0 0,0 0 0,-1 0 0,1 0 0,-1 0 0,1 1 0,0-1 0,-1 0 0,1 0 0,0 1 0,-1-1 0,1 0 0,0 2 0,0-1 0,0 0 0,-1 0 0,1 0 0,0 0 0,-1 1 0,1-1 0,-1 0 0,1 1 0,-1-1 0,0 0 0,0 1 0,1-1 0,-1 0 0,0 3 0,-1 5 0,1 0 0,-2 1 0,1-1 0,-5 15 0,4-18 0,0 0 0,0-1 0,1 1 0,0 0 0,0 0 0,1 0 0,0 0 0,0 1 0,0-1 0,0 0 0,1 0 0,0 0 0,4 10 0,9 5 0,-12-18 0,1 0 0,-1 0 0,0 0 0,0 0 0,-1 1 0,3 4 0,-4-7 0,1 0 0,-1 0 0,0 0 0,0 0 0,0 0 0,0 0 0,0 0 0,0 0 0,0 0 0,-1 0 0,1 0 0,0 0 0,0 0 0,-1 0 0,1 0 0,-1 0 0,1-1 0,-1 1 0,1 0 0,-1 0 0,1 0 0,-1 0 0,0-1 0,1 1 0,-1 0 0,0-1 0,-1 2 0,-13 8 0,0 0 0,0-1 0,-21 8 0,30-16 0,11-8 0,12-7 0,34-16 0,-29 18 0,0-2 0,37-28 0,-51 33 0,0-1 0,0 0 0,-1 0 0,10-18 0,-15 25 0,0-2 0,1 0 0,-1-1 0,0 1 0,-1-1 0,1 1 0,-1-1 0,0 0 0,-1 1 0,1-9 0,-1 11 0,0 1 0,0-1 0,0 1 0,0-1 0,-1 1 0,1-1 0,-1 1 0,1-1 0,-1 1 0,0 0 0,0-1 0,0 1 0,0 0 0,0 0 0,-1 0 0,1 0 0,-1 0 0,1 0 0,-1 0 0,0 0 0,0 0 0,0 1 0,-3-3 0,4 4 0,1-1 0,-1 1 0,0 0 0,1 0 0,-1-1 0,0 1 0,1 0 0,-1 0 0,0 0 0,1 0 0,-1 0 0,0-1 0,0 1 0,1 1 0,-1-1 0,0 0 0,0 0 0,1 0 0,-1 0 0,0 0 0,1 1 0,-1-1 0,0 0 0,1 1 0,-1-1 0,-1 1 0,1 0 0,0 1 0,0-1 0,0 0 0,0 1 0,0-1 0,0 1 0,1-1 0,-1 1 0,0-1 0,1 1 0,-1 2 0,-1 4 0,0 1 0,1 0 0,0 12 0,1-21 0,1 188 286,0-68-1937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5:20:18.4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24575,'2501'0'-1365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277DE-913B-2705-A992-D1E43BCC1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1E7F63-3809-DB7E-A715-1458908D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15CFD-421F-EEC6-DC45-CAAF7600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A9362-817E-581F-D9C1-892041DB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E9DE7-1CED-92FC-08EE-830CC270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6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526AC-2975-4669-CAF6-61B08D86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7B616-1A86-BC67-74C7-9331F5BF3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EEAA7-80D3-0A8F-695B-D92247C8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3FCF9-4227-03FC-8D10-B0BCC865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17D95-75A2-0C55-2E09-5CCD1039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05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93277-10CD-F20A-44F5-A4688D1F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9E280F-6D04-93EC-D8F5-C3B97B74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AA7DA2-6573-6E79-9DBD-D4DC41CC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FF55A-9C41-B90E-7A44-28D2EC6E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FD75-6A09-72CE-BC50-B435190D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16D76-42F7-57B7-F02B-C8451FBB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8D086A-24B3-0CB2-C483-2576E05B2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1D83DD-6163-2D70-6694-448B23B66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847933-6590-5B2B-2D68-27ABF64F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F264D-F4BD-4061-A47A-ED5C0098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5D1DD-267B-F2BD-B51A-3B8BCC8B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74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021B5-7D4F-84E5-53DF-4F75B638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CA9B0D-7023-FA59-CCCF-D9EFAE04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1B9FC1-077D-C2EA-9C8C-17A0C9CFB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ADCDE1-778F-7B7D-43F9-6AD2608DE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2A7602-96F2-129B-DF36-34191F55F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AC3626-4093-75AA-1259-7D7910DB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4BDC18-E858-F602-618E-EB5E9D68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283947-A947-B283-F0A1-7F608D29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03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932F7-6E9E-BA0C-9295-8C6E186E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7749F6-B296-4922-42EA-39E56CF1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3DE34A-CCED-1589-C1FB-C5D4E745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9506E9-179C-EBF8-7CDA-8701E071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85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F00CD8-7288-B8BC-B854-FA92086E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EA76EB-5D2B-755D-462F-B571C9FD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91484-0132-F656-4724-7D863AC7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2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6B49-7A7B-7A89-529F-533CB129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1F5B3-715B-4134-DE35-EF665F503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62F36D-56BC-3957-52E1-A4B9BD860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55F8D-54E8-CA04-8848-1B8BFEC7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32BDB5-CEC1-BA7B-8C9C-291CE2615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33DDE0-A107-EC39-FD3F-BA9386A4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34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D6C7D-5485-F9DE-E6D9-184C729A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BC264D-0B56-E9F6-A156-C3711A04F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E64AC-4A64-DA76-FC0A-3F44C5B4C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3B71DC-DBE5-08E2-70E8-1C6EBA67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57D7FE-CB60-EBA6-D940-5B0359DE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71B19E-981C-6BA0-BEF6-BFBA77B8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6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27DE-750B-8F19-2675-BC87A107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E5852-DA99-4AFF-FACD-3CF6D3ECC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B6B1D-80D9-3569-770D-0953573C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8AA696-78D4-3DC5-08B1-5C043D37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EE5CD-62FE-3D7E-9ED0-90D702E7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B5BBCA-DF0E-FCFC-D36B-47A25EC82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8F6F28-36F5-0F06-3723-DC37DB6B5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45348-3A33-BA02-EB6C-2462CDF3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454AA2-6751-4A7A-C6CF-7830500B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72A8D3-765C-FA2B-B700-629612EB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75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81F136-C69B-B554-A1E0-79A36EBB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4C092-EC74-CC0B-E7BE-A23AE07E2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A6EF0-8DA0-28E3-3F59-179DAF4EC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EC9DF-4DE7-4E60-8E6B-3FD221C11E88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68658-1734-0BF9-34F9-483589518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F1A56-5917-364A-71E0-520673DC3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036D1-955E-47CF-A1AD-5433B427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31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8F6A1-1398-1060-FE18-7D9D32517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tx2"/>
                </a:solidFill>
              </a:rPr>
              <a:t>扭摆法测量物体的转动惯量</a:t>
            </a:r>
          </a:p>
        </p:txBody>
      </p:sp>
    </p:spTree>
    <p:extLst>
      <p:ext uri="{BB962C8B-B14F-4D97-AF65-F5344CB8AC3E}">
        <p14:creationId xmlns:p14="http://schemas.microsoft.com/office/powerpoint/2010/main" val="682062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9E278-E9C7-9FC7-6825-AD3C078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0A5C5-5F63-3A3F-D881-2DEA748B0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深入理解转动惯量的物理意义，明确其与物体质量分布、形状及转轴位置的依赖关系，掌握转动惯量的基本概念和相关特性。</a:t>
            </a:r>
          </a:p>
          <a:p>
            <a:r>
              <a:rPr lang="zh-CN" altLang="en-US" dirty="0"/>
              <a:t>熟悉扭摆的构造原理和工作方式，学会正确组装、调试扭摆实验装置，掌握实验仪器的基本操作方法。</a:t>
            </a:r>
          </a:p>
          <a:p>
            <a:r>
              <a:rPr lang="zh-CN" altLang="en-US" dirty="0"/>
              <a:t>掌握用扭摆法测量不同形状物体转动惯量的实验原理和具体步骤，能够独立完成实验数据的测量。</a:t>
            </a:r>
          </a:p>
          <a:p>
            <a:r>
              <a:rPr lang="zh-CN" altLang="en-US" dirty="0"/>
              <a:t>学习使用光电计时器精确测量扭摆的振动周期，掌握数据处理的基本方法，包括计算转动惯量的数值、不确定度分析等，培养严谨的实验数据处理能力。</a:t>
            </a:r>
          </a:p>
        </p:txBody>
      </p:sp>
    </p:spTree>
    <p:extLst>
      <p:ext uri="{BB962C8B-B14F-4D97-AF65-F5344CB8AC3E}">
        <p14:creationId xmlns:p14="http://schemas.microsoft.com/office/powerpoint/2010/main" val="305717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269FC-0BDE-50EF-5350-020E8062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转动惯量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F8DC4-5201-8AA0-A858-B6A1BBA9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转动惯量（</a:t>
            </a:r>
            <a:r>
              <a:rPr lang="en-US" altLang="zh-CN" dirty="0"/>
              <a:t>Moment of inertia</a:t>
            </a:r>
            <a:r>
              <a:rPr lang="zh-CN" altLang="en-US" dirty="0"/>
              <a:t>）是经典力学中，刚体绕轴转动时惯性（回转物体保持其匀速圆周运动或静止的特性）的量度。转动惯量通常用字母</a:t>
            </a:r>
            <a:r>
              <a:rPr lang="en-US" altLang="zh-CN" dirty="0"/>
              <a:t>I</a:t>
            </a:r>
            <a:r>
              <a:rPr lang="zh-CN" altLang="en-US" dirty="0"/>
              <a:t>或</a:t>
            </a:r>
            <a:r>
              <a:rPr lang="en-US" altLang="zh-CN" dirty="0"/>
              <a:t>J</a:t>
            </a:r>
            <a:r>
              <a:rPr lang="zh-CN" altLang="en-US" dirty="0"/>
              <a:t>表示，其国际单位制单位为 </a:t>
            </a:r>
            <a:r>
              <a:rPr lang="en-US" altLang="zh-CN" dirty="0"/>
              <a:t>kg·m²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788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5700526-B0D5-CA21-69C0-91AB3FFC5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32" y="1386476"/>
            <a:ext cx="10942754" cy="408504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8745B3F-9616-EFD8-88C5-ED8DB0F93CD2}"/>
              </a:ext>
            </a:extLst>
          </p:cNvPr>
          <p:cNvGrpSpPr/>
          <p:nvPr/>
        </p:nvGrpSpPr>
        <p:grpSpPr>
          <a:xfrm>
            <a:off x="8249109" y="5217777"/>
            <a:ext cx="823680" cy="871560"/>
            <a:chOff x="8249109" y="5217777"/>
            <a:chExt cx="823680" cy="87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896F5E2-64D8-7D61-BAD1-27CDBD3291C3}"/>
                    </a:ext>
                  </a:extLst>
                </p14:cNvPr>
                <p14:cNvContentPartPr/>
                <p14:nvPr/>
              </p14:nvContentPartPr>
              <p14:xfrm>
                <a:off x="8249109" y="5491737"/>
                <a:ext cx="227520" cy="59760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896F5E2-64D8-7D61-BAD1-27CDBD3291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6469" y="5429097"/>
                  <a:ext cx="35316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0AE4099-79DE-8E2C-4DF5-1776185B96DE}"/>
                    </a:ext>
                  </a:extLst>
                </p14:cNvPr>
                <p14:cNvContentPartPr/>
                <p14:nvPr/>
              </p14:nvContentPartPr>
              <p14:xfrm>
                <a:off x="8795589" y="5217777"/>
                <a:ext cx="277200" cy="7268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0AE4099-79DE-8E2C-4DF5-1776185B96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32589" y="5155137"/>
                  <a:ext cx="402840" cy="85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233CD78-B57C-BD5C-B4FE-6ED23A055CE4}"/>
                  </a:ext>
                </a:extLst>
              </p14:cNvPr>
              <p14:cNvContentPartPr/>
              <p14:nvPr/>
            </p14:nvContentPartPr>
            <p14:xfrm>
              <a:off x="8381949" y="5045337"/>
              <a:ext cx="189360" cy="1368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233CD78-B57C-BD5C-B4FE-6ED23A055C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8949" y="4982337"/>
                <a:ext cx="315000" cy="2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49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AA0666-9E53-32D8-C1F1-F5988187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" y="2312330"/>
            <a:ext cx="12192000" cy="223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0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ment of Inertia - Formulas, MOI of Objects [Solved Examples]">
            <a:extLst>
              <a:ext uri="{FF2B5EF4-FFF2-40B4-BE49-F238E27FC236}">
                <a16:creationId xmlns:a16="http://schemas.microsoft.com/office/drawing/2014/main" id="{FFFB949F-D385-F7E6-F643-8B6054B2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458" y="1267793"/>
            <a:ext cx="5612657" cy="559020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E7B7D15-76CC-ADD2-AF71-91B64B2A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常见物体的转动惯量</a:t>
            </a:r>
          </a:p>
        </p:txBody>
      </p:sp>
    </p:spTree>
    <p:extLst>
      <p:ext uri="{BB962C8B-B14F-4D97-AF65-F5344CB8AC3E}">
        <p14:creationId xmlns:p14="http://schemas.microsoft.com/office/powerpoint/2010/main" val="362723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099E9-2B68-2D57-10C8-71E41F6A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实验器材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3E62B-94F8-1639-67E6-86DA725DE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扭摆及其辅材</a:t>
            </a:r>
          </a:p>
          <a:p>
            <a:r>
              <a:rPr lang="zh-CN" altLang="en-US" dirty="0"/>
              <a:t>转动惯量周期测定仪</a:t>
            </a:r>
          </a:p>
          <a:p>
            <a:r>
              <a:rPr lang="zh-CN" altLang="en-US" dirty="0"/>
              <a:t>数字天平</a:t>
            </a:r>
            <a:endParaRPr lang="en-US" altLang="zh-CN" dirty="0"/>
          </a:p>
          <a:p>
            <a:r>
              <a:rPr lang="zh-CN" altLang="en-US" dirty="0"/>
              <a:t>游标卡尺、米尺等</a:t>
            </a:r>
            <a:endParaRPr lang="en-US" altLang="zh-CN" dirty="0"/>
          </a:p>
          <a:p>
            <a:r>
              <a:rPr lang="zh-CN" altLang="en-US" dirty="0"/>
              <a:t>金属细杆</a:t>
            </a:r>
            <a:endParaRPr lang="en-US" altLang="zh-CN" dirty="0"/>
          </a:p>
          <a:p>
            <a:r>
              <a:rPr lang="zh-CN" altLang="en-US" dirty="0"/>
              <a:t>金属圆筒</a:t>
            </a:r>
            <a:endParaRPr lang="en-US" altLang="zh-CN" dirty="0"/>
          </a:p>
          <a:p>
            <a:r>
              <a:rPr lang="zh-CN" altLang="en-US" dirty="0"/>
              <a:t>塑料圆柱</a:t>
            </a:r>
          </a:p>
          <a:p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54206B45-D8FD-2623-EAE2-534EA969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040" y="3104356"/>
            <a:ext cx="45624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0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A4999-3377-5B1E-FCD8-EC7B3BDD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48154BAC-1D47-628E-062C-B515BE2F7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950" cy="2232025"/>
          </a:xfrm>
        </p:spPr>
        <p:txBody>
          <a:bodyPr/>
          <a:lstStyle/>
          <a:p>
            <a:r>
              <a:rPr lang="zh-CN" altLang="zh-CN" dirty="0"/>
              <a:t>扭摆的构造见图所示</a:t>
            </a:r>
            <a:r>
              <a:rPr lang="zh-CN" altLang="en-US" dirty="0"/>
              <a:t>，</a:t>
            </a:r>
            <a:r>
              <a:rPr lang="zh-CN" altLang="zh-CN" dirty="0"/>
              <a:t>在其垂直轴</a:t>
            </a:r>
            <a:r>
              <a:rPr lang="en-US" altLang="zh-CN" dirty="0"/>
              <a:t>1</a:t>
            </a:r>
            <a:r>
              <a:rPr lang="zh-CN" altLang="zh-CN" dirty="0"/>
              <a:t>上装有一根薄片状的螺旋弹簧</a:t>
            </a:r>
            <a:r>
              <a:rPr lang="en-US" altLang="zh-CN" dirty="0"/>
              <a:t>2</a:t>
            </a:r>
            <a:r>
              <a:rPr lang="zh-CN" altLang="zh-CN" dirty="0"/>
              <a:t>，用以产生恢复力矩。在轴的上方可以装上各种待测物体。垂直轴与支座间装有轴承</a:t>
            </a:r>
            <a:r>
              <a:rPr lang="en-US" altLang="zh-CN" dirty="0"/>
              <a:t>,</a:t>
            </a:r>
            <a:r>
              <a:rPr lang="zh-CN" altLang="zh-CN" dirty="0"/>
              <a:t>使摩擦力矩尽可能降低。</a:t>
            </a:r>
          </a:p>
          <a:p>
            <a:endParaRPr lang="zh-CN" altLang="en-US" dirty="0"/>
          </a:p>
        </p:txBody>
      </p:sp>
      <p:pic>
        <p:nvPicPr>
          <p:cNvPr id="3" name="内容占位符 8">
            <a:extLst>
              <a:ext uri="{FF2B5EF4-FFF2-40B4-BE49-F238E27FC236}">
                <a16:creationId xmlns:a16="http://schemas.microsoft.com/office/drawing/2014/main" id="{A23DF31C-BDFB-C7D7-338F-DA0BAF05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69" r="1"/>
          <a:stretch>
            <a:fillRect/>
          </a:stretch>
        </p:blipFill>
        <p:spPr>
          <a:xfrm>
            <a:off x="7758112" y="2573336"/>
            <a:ext cx="2312422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8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5ED94-B06E-4543-3F9B-E3BDC102C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457"/>
            <a:ext cx="10515600" cy="4950506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将物体在水平面内转过一角度θ后，在弹簧的恢复力矩作用下，物体就开始绕垂直轴作往返扭转运动。根据</a:t>
            </a:r>
            <a:r>
              <a:rPr lang="zh-CN" altLang="en-US" dirty="0"/>
              <a:t>胡</a:t>
            </a:r>
            <a:r>
              <a:rPr lang="zh-CN" altLang="zh-CN" dirty="0"/>
              <a:t>克定律，弹簧受扭转而产生的恢复力矩</a:t>
            </a:r>
            <a:r>
              <a:rPr lang="en-US" altLang="zh-CN" dirty="0"/>
              <a:t>M</a:t>
            </a:r>
            <a:r>
              <a:rPr lang="zh-CN" altLang="zh-CN" dirty="0"/>
              <a:t>与所转过的角度成正比</a:t>
            </a:r>
            <a:r>
              <a:rPr lang="zh-CN" altLang="en-US" dirty="0"/>
              <a:t>，</a:t>
            </a:r>
            <a:r>
              <a:rPr lang="zh-CN" altLang="zh-CN" dirty="0"/>
              <a:t>即</a:t>
            </a:r>
          </a:p>
          <a:p>
            <a:pPr marL="0" indent="0" algn="ctr">
              <a:buNone/>
            </a:pPr>
            <a:r>
              <a:rPr lang="en-US" altLang="zh-CN" i="1" dirty="0"/>
              <a:t>M =-K</a:t>
            </a:r>
            <a:r>
              <a:rPr lang="zh-CN" altLang="zh-CN" i="1" dirty="0"/>
              <a:t>θ</a:t>
            </a:r>
            <a:r>
              <a:rPr lang="en-US" altLang="zh-CN" i="1"/>
              <a:t>    </a:t>
            </a:r>
            <a:r>
              <a:rPr lang="en-US" altLang="zh-CN"/>
              <a:t>(</a:t>
            </a:r>
            <a:r>
              <a:rPr lang="en-US" altLang="zh-CN" dirty="0"/>
              <a:t>1)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式中，</a:t>
            </a:r>
            <a:r>
              <a:rPr lang="en-US" altLang="zh-CN" dirty="0"/>
              <a:t>K</a:t>
            </a:r>
            <a:r>
              <a:rPr lang="zh-CN" altLang="zh-CN" dirty="0"/>
              <a:t>为弹簧的扭转常数。根据转动定律</a:t>
            </a:r>
          </a:p>
          <a:p>
            <a:pPr marL="0" indent="0" algn="ctr">
              <a:buNone/>
            </a:pPr>
            <a:r>
              <a:rPr lang="en-US" altLang="zh-CN" i="1" dirty="0"/>
              <a:t>M = Iβ</a:t>
            </a:r>
          </a:p>
          <a:p>
            <a:pPr marL="0" indent="0">
              <a:buNone/>
            </a:pPr>
            <a:r>
              <a:rPr lang="zh-CN" altLang="zh-CN" dirty="0"/>
              <a:t>式中，</a:t>
            </a:r>
            <a:r>
              <a:rPr lang="en-US" altLang="zh-CN" dirty="0"/>
              <a:t>I </a:t>
            </a:r>
            <a:r>
              <a:rPr lang="zh-CN" altLang="zh-CN" dirty="0"/>
              <a:t>为物体绕转动轴的转动惯量，</a:t>
            </a:r>
            <a:r>
              <a:rPr lang="en-US" altLang="zh-CN" dirty="0"/>
              <a:t>β</a:t>
            </a:r>
            <a:r>
              <a:rPr lang="zh-CN" altLang="zh-CN" dirty="0"/>
              <a:t>为角加速度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可得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i="1" dirty="0"/>
              <a:t>β =M/I   </a:t>
            </a:r>
            <a:r>
              <a:rPr lang="en-US" altLang="zh-CN" dirty="0"/>
              <a:t>(2)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843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9BB400-37D1-EE22-5487-0DF4A2030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由（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），得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en-US" altLang="zh-CN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dirty="0"/>
                      <m:t>β</m:t>
                    </m:r>
                    <m:r>
                      <m:rPr>
                        <m:nor/>
                      </m:rPr>
                      <a:rPr lang="en-US" altLang="zh-CN" dirty="0"/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ⅆ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ⅆ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dirty="0"/>
                  <a:t>=-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此方程的解为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（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式中，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为谐振动的角振幅，</a:t>
                </a:r>
                <a:r>
                  <a:rPr lang="en-US" altLang="zh-CN" dirty="0"/>
                  <a:t>φ</a:t>
                </a:r>
                <a:r>
                  <a:rPr lang="zh-CN" altLang="en-US" dirty="0"/>
                  <a:t>为初相位角，</a:t>
                </a:r>
                <a:r>
                  <a:rPr lang="en-US" altLang="zh-CN" dirty="0"/>
                  <a:t>ω</a:t>
                </a:r>
                <a:r>
                  <a:rPr lang="zh-CN" altLang="en-US" dirty="0"/>
                  <a:t>为角速度。此谐振动的周期为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T</m:t>
                    </m:r>
                    <m:r>
                      <m:rPr>
                        <m:nor/>
                      </m:rPr>
                      <a:rPr lang="en-US" altLang="zh-CN" dirty="0"/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  (3)</a:t>
                </a:r>
              </a:p>
              <a:p>
                <a:pPr marL="2743200" lvl="6" indent="0">
                  <a:buNone/>
                </a:pPr>
                <a:endParaRPr lang="en-US" altLang="zh-CN" dirty="0"/>
              </a:p>
              <a:p>
                <a:pPr marL="2743200" lvl="6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9BB400-37D1-EE22-5487-0DF4A2030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921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031204-3B33-3813-7D07-663A9A247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4600"/>
                <a:ext cx="10515600" cy="4932363"/>
              </a:xfrm>
            </p:spPr>
            <p:txBody>
              <a:bodyPr/>
              <a:lstStyle/>
              <a:p>
                <a:r>
                  <a:rPr lang="zh-CN" altLang="en-US" dirty="0"/>
                  <a:t>利用公式</a:t>
                </a:r>
                <a:r>
                  <a:rPr lang="en-US" altLang="zh-CN" dirty="0"/>
                  <a:t>(3)</a:t>
                </a:r>
                <a:r>
                  <a:rPr lang="zh-CN" altLang="en-US" dirty="0"/>
                  <a:t>测得扭摆的摆动周期后，在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中任何一个量已知时即可计算出另一个量。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由公式</a:t>
                </a:r>
                <a:r>
                  <a:rPr lang="en-US" altLang="zh-CN" dirty="0"/>
                  <a:t>(3)</a:t>
                </a:r>
                <a:r>
                  <a:rPr lang="zh-CN" altLang="en-US" dirty="0"/>
                  <a:t>可得出</a:t>
                </a:r>
                <a:r>
                  <a:rPr lang="en-US" altLang="zh-CN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′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式中</a:t>
                </a:r>
                <a:r>
                  <a:rPr lang="en-US" altLang="zh-CN" dirty="0"/>
                  <a:t>I</a:t>
                </a:r>
                <a:r>
                  <a:rPr lang="en-US" altLang="zh-CN" baseline="-25000" dirty="0"/>
                  <a:t>0</a:t>
                </a:r>
                <a:r>
                  <a:rPr lang="zh-CN" altLang="en-US" dirty="0"/>
                  <a:t>为金属载物圆盘绕转轴的转动惯量，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baseline="3000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为另一物体的转动惯量理论值，对质量为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，外径为</a:t>
                </a:r>
                <a:r>
                  <a:rPr lang="en-US" altLang="zh-CN" dirty="0"/>
                  <a:t>D1</a:t>
                </a:r>
                <a:r>
                  <a:rPr lang="zh-CN" altLang="en-US" dirty="0"/>
                  <a:t>的圆柱体，则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baseline="3000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altLang="zh-CN" dirty="0"/>
                  <a:t>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baseline="30000" dirty="0"/>
              </a:p>
              <a:p>
                <a:pPr marL="0" indent="0" algn="ctr">
                  <a:buNone/>
                </a:pPr>
                <a:endParaRPr lang="en-US" altLang="zh-CN" baseline="30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031204-3B33-3813-7D07-663A9A247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4600"/>
                <a:ext cx="10515600" cy="4932363"/>
              </a:xfrm>
              <a:blipFill>
                <a:blip r:embed="rId2"/>
                <a:stretch>
                  <a:fillRect l="-1217" t="-2225" r="-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38DF26E-1835-831F-B194-CE3969D9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82" y="4540554"/>
            <a:ext cx="3038836" cy="130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6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79C4E-2091-C6D0-8C06-8CEF82A9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8FCB7C-F957-1D23-390F-57E36768C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14"/>
            <a:ext cx="10515600" cy="458764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用游标卡尺分别测出塑料圆柱的外径，金属圆筒的内、外径、用米尺测金属细杆长度</a:t>
            </a:r>
            <a:r>
              <a:rPr lang="en-US" altLang="zh-CN" sz="2400" dirty="0"/>
              <a:t>(</a:t>
            </a:r>
            <a:r>
              <a:rPr lang="zh-CN" altLang="en-US" sz="2400" dirty="0"/>
              <a:t>各测量</a:t>
            </a:r>
            <a:r>
              <a:rPr lang="en-US" altLang="zh-CN" sz="2400" dirty="0"/>
              <a:t>3</a:t>
            </a:r>
            <a:r>
              <a:rPr lang="zh-CN" altLang="en-US" sz="2400" dirty="0"/>
              <a:t>次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用数字天平分别测量出塑料圆柱、金属圆筒、金属细杆的质量。</a:t>
            </a:r>
            <a:endParaRPr lang="en-US" altLang="zh-CN" sz="2400" dirty="0"/>
          </a:p>
          <a:p>
            <a:r>
              <a:rPr lang="zh-CN" altLang="en-US" sz="2400" dirty="0"/>
              <a:t>调整扭摆基座底脚螺丝</a:t>
            </a:r>
            <a:r>
              <a:rPr lang="en-US" altLang="zh-CN" sz="2400" dirty="0"/>
              <a:t>,</a:t>
            </a:r>
            <a:r>
              <a:rPr lang="zh-CN" altLang="en-US" sz="2400" dirty="0"/>
              <a:t>使水准泡中气泡居中。</a:t>
            </a:r>
            <a:endParaRPr lang="en-US" altLang="zh-CN" sz="2400" dirty="0"/>
          </a:p>
          <a:p>
            <a:r>
              <a:rPr lang="zh-CN" altLang="en-US" sz="2400" dirty="0"/>
              <a:t>装上金属载物盘，并调整光电探头的位置使载物盘上挡光杆处于其缺口中，且能遮住发射接收红外光线的小孔，测定其摆动周期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将塑料圆柱垂直放在载物盘上，测出它的摆动周期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用金属圆筒代替塑料圆柱，测出摆动周期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取下载物金属盘，装上金属细杆并测出它的摆动周期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3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计算，与转动惯量的理论值相比较。</a:t>
            </a:r>
          </a:p>
        </p:txBody>
      </p:sp>
    </p:spTree>
    <p:extLst>
      <p:ext uri="{BB962C8B-B14F-4D97-AF65-F5344CB8AC3E}">
        <p14:creationId xmlns:p14="http://schemas.microsoft.com/office/powerpoint/2010/main" val="1995018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59C30-96D2-0B52-3333-791AC4D7D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655DE-7861-BB47-FF5A-F3266B5DD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25320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由于弹簧的扭转常数</a:t>
            </a:r>
            <a:r>
              <a:rPr lang="en-US" altLang="zh-CN" sz="2400" dirty="0"/>
              <a:t>K</a:t>
            </a:r>
            <a:r>
              <a:rPr lang="zh-CN" altLang="en-US" sz="2400" dirty="0"/>
              <a:t>值不是固定常数，它与摆动角度略有关系，摆角在</a:t>
            </a:r>
            <a:r>
              <a:rPr lang="en-US" altLang="zh-CN" sz="2400" dirty="0"/>
              <a:t>90°~40°</a:t>
            </a:r>
            <a:r>
              <a:rPr lang="zh-CN" altLang="en-US" sz="2400" dirty="0"/>
              <a:t>间基本相同。为了降低实验时由于摆角度变化过大带来的系统误差</a:t>
            </a:r>
            <a:r>
              <a:rPr lang="en-US" altLang="zh-CN" sz="2400" dirty="0"/>
              <a:t>,</a:t>
            </a:r>
            <a:r>
              <a:rPr lang="zh-CN" altLang="en-US" sz="2400" dirty="0"/>
              <a:t>在测定各种物体的摆动周期时，摆角不宜过小或过大。</a:t>
            </a:r>
            <a:endParaRPr lang="en-US" altLang="zh-CN" sz="2400" dirty="0"/>
          </a:p>
          <a:p>
            <a:r>
              <a:rPr lang="zh-CN" altLang="en-US" sz="2400" dirty="0"/>
              <a:t>光电探头宜放置在挡光杆的平衡位置处，挡光杆不能和它相接触，以免增大摩擦力矩，增大实验误差。</a:t>
            </a:r>
            <a:endParaRPr lang="en-US" altLang="zh-CN" sz="2400" dirty="0"/>
          </a:p>
          <a:p>
            <a:r>
              <a:rPr lang="zh-CN" altLang="en-US" sz="2400" dirty="0"/>
              <a:t>机座应保持水平状态。</a:t>
            </a:r>
            <a:endParaRPr lang="en-US" altLang="zh-CN" sz="2400" dirty="0"/>
          </a:p>
        </p:txBody>
      </p:sp>
      <p:pic>
        <p:nvPicPr>
          <p:cNvPr id="4" name="内容占位符 8">
            <a:extLst>
              <a:ext uri="{FF2B5EF4-FFF2-40B4-BE49-F238E27FC236}">
                <a16:creationId xmlns:a16="http://schemas.microsoft.com/office/drawing/2014/main" id="{512E5ADC-389E-AC84-F986-99212732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344" y="3429000"/>
            <a:ext cx="45624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3A802-FC9E-EE98-1692-711B89F3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实验数据表格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D498C1-7EBD-174A-350C-F602E62D3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7D89EC1-9FA1-E1CC-A50C-7899024B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56" y="1825625"/>
            <a:ext cx="8563701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FDEB4DF-D0E8-13D9-7FCB-26AD8EC2AEE6}"/>
                  </a:ext>
                </a:extLst>
              </p14:cNvPr>
              <p14:cNvContentPartPr/>
              <p14:nvPr/>
            </p14:nvContentPartPr>
            <p14:xfrm>
              <a:off x="8872515" y="2121435"/>
              <a:ext cx="90072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FDEB4DF-D0E8-13D9-7FCB-26AD8EC2AE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9515" y="2058795"/>
                <a:ext cx="102636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8796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7857ABC-183E-93B2-2ADF-48D1C236B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700"/>
            <a:ext cx="10334625" cy="35075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8800" dirty="0"/>
              <a:t>谢谢</a:t>
            </a:r>
            <a:endParaRPr lang="en-US" altLang="zh-CN" sz="8800" dirty="0"/>
          </a:p>
          <a:p>
            <a:pPr marL="0" indent="0" algn="ctr">
              <a:buNone/>
            </a:pPr>
            <a:endParaRPr lang="en-US" altLang="zh-CN" sz="8800" dirty="0"/>
          </a:p>
        </p:txBody>
      </p:sp>
    </p:spTree>
    <p:extLst>
      <p:ext uri="{BB962C8B-B14F-4D97-AF65-F5344CB8AC3E}">
        <p14:creationId xmlns:p14="http://schemas.microsoft.com/office/powerpoint/2010/main" val="331956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759</Words>
  <Application>Microsoft Office PowerPoint</Application>
  <PresentationFormat>宽屏</PresentationFormat>
  <Paragraphs>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Office 主题​​</vt:lpstr>
      <vt:lpstr>扭摆法测量物体的转动惯量</vt:lpstr>
      <vt:lpstr>实验目的</vt:lpstr>
      <vt:lpstr>转动惯量</vt:lpstr>
      <vt:lpstr>PowerPoint 演示文稿</vt:lpstr>
      <vt:lpstr>PowerPoint 演示文稿</vt:lpstr>
      <vt:lpstr>常见物体的转动惯量</vt:lpstr>
      <vt:lpstr>实验器材</vt:lpstr>
      <vt:lpstr>实验原理</vt:lpstr>
      <vt:lpstr>PowerPoint 演示文稿</vt:lpstr>
      <vt:lpstr>PowerPoint 演示文稿</vt:lpstr>
      <vt:lpstr>PowerPoint 演示文稿</vt:lpstr>
      <vt:lpstr>实验步骤</vt:lpstr>
      <vt:lpstr>注意事项</vt:lpstr>
      <vt:lpstr>实验数据表格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李</dc:creator>
  <cp:lastModifiedBy>皓 李</cp:lastModifiedBy>
  <cp:revision>4</cp:revision>
  <dcterms:created xsi:type="dcterms:W3CDTF">2026-05-21T13:06:22Z</dcterms:created>
  <dcterms:modified xsi:type="dcterms:W3CDTF">2026-07-04T23:57:52Z</dcterms:modified>
</cp:coreProperties>
</file>